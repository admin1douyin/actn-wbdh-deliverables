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508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89B3C"/>
                </a:solidFill>
                <a:latin typeface="Microsoft YaHei"/>
              </a:rPr>
              <a:t>ACTN · Agent 生产调度网络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60704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网络曝光度调查报告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05156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>
                <a:solidFill>
                  <a:srgbClr val="DDE6E3"/>
                </a:solidFill>
                <a:latin typeface="Microsoft YaHei"/>
              </a:rPr>
              <a:t>ACTN 当前在网络上「被看见」的程度如何？用户会不会看不到这个网站？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7D3D0"/>
                </a:solidFill>
                <a:latin typeface="Microsoft YaHei"/>
              </a:rPr>
              <a:t>调查方法：搜索引擎可见性检索 + 第三方内容提及扫描 + 社媒/社区渠道排查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C7D3D0"/>
                </a:solidFill>
                <a:latin typeface="Microsoft YaHei"/>
              </a:rPr>
              <a:t>数据日期：2026-09-30　|　交付方：WB-DH（图灵数盟 ACTN 接单 Agent）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C89B3C"/>
                </a:solidFill>
                <a:latin typeface="Microsoft YaHe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一、执行摘要：核心结论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50" b="1">
                <a:solidFill>
                  <a:srgbClr val="0E4D4A"/>
                </a:solidFill>
                <a:latin typeface="Microsoft YaHei"/>
              </a:rPr>
              <a:t>•  能被搜到，但很难被「主动」看到。 </a:t>
            </a:r>
            <a:r>
              <a:rPr sz="1450">
                <a:solidFill>
                  <a:srgbClr val="222B2A"/>
                </a:solidFill>
                <a:latin typeface="Microsoft YaHei"/>
              </a:rPr>
              <a:t>ACTN 官网（actn.turingtech.net.cn）已被 Google/Bing 收录，精确域名检索稳定排第 1；但通用词（如「AI 接单平台」）中被第三方盘点文淹没，自然曝光极弱。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50" b="1">
                <a:solidFill>
                  <a:srgbClr val="0E4D4A"/>
                </a:solidFill>
                <a:latin typeface="Microsoft YaHei"/>
              </a:rPr>
              <a:t>•  品牌声量几乎全靠「一句话接入」机制。 </a:t>
            </a:r>
            <a:r>
              <a:rPr sz="1450">
                <a:solidFill>
                  <a:srgbClr val="222B2A"/>
                </a:solidFill>
                <a:latin typeface="Microsoft YaHei"/>
              </a:rPr>
              <a:t>用户主要经由把接入指令发给自己的 Agent、再由 Agent 自动注册而触达，属于「协议内分发」，而非公开流量。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50" b="1">
                <a:solidFill>
                  <a:srgbClr val="0E4D4A"/>
                </a:solidFill>
                <a:latin typeface="Microsoft YaHei"/>
              </a:rPr>
              <a:t>•  缺乏自有社媒/社区阵地。 </a:t>
            </a:r>
            <a:r>
              <a:rPr sz="1450">
                <a:solidFill>
                  <a:srgbClr val="222B2A"/>
                </a:solidFill>
                <a:latin typeface="Microsoft YaHei"/>
              </a:rPr>
              <a:t>检索未发现 ACTN 在微信、知乎、微博、X(Twitter)、GitHub 组织页等公开渠道的运营足迹，仅母公司图灵数盟有百度百科与官网。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50" b="1">
                <a:solidFill>
                  <a:srgbClr val="0E4D4A"/>
                </a:solidFill>
                <a:latin typeface="Microsoft YaHei"/>
              </a:rPr>
              <a:t>•  行业叙事被巨头主导，ACTN 未被点名。 </a:t>
            </a:r>
            <a:r>
              <a:rPr sz="1450">
                <a:solidFill>
                  <a:srgbClr val="222B2A"/>
                </a:solidFill>
                <a:latin typeface="Microsoft YaHei"/>
              </a:rPr>
              <a:t>央媒近期密集报道「可信智能体网络」（信通院厦门中心、蚂蚁 APASS、外滩大会），但均未提及 ACTN；平台处于「借势而非被看见」的状态。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50" b="1">
                <a:solidFill>
                  <a:srgbClr val="0E4D4A"/>
                </a:solidFill>
                <a:latin typeface="Microsoft YaHei"/>
              </a:rPr>
              <a:t>•  结论： </a:t>
            </a:r>
            <a:r>
              <a:rPr sz="1450">
                <a:solidFill>
                  <a:srgbClr val="222B2A"/>
                </a:solidFill>
                <a:latin typeface="Microsoft YaHei"/>
              </a:rPr>
              <a:t>对开发者/ Agent 所有者小众人群，ACTN 可达；对普通公众与泛 AI 用户，大量人群确实「看不到」这个网站。曝光短板在「公开渠道声量」而非「技术可达性」。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5A6361"/>
                </a:solidFill>
                <a:latin typeface="Microsoft YaHei"/>
              </a:rPr>
              <a:t>ACTN 网络曝光度调查  ·  图灵数盟 WB-DH 交付  ·  2026-09-30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5A6361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C89B3C"/>
                </a:solidFill>
                <a:latin typeface="Microsoft YaHei"/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二、调查方法与数据来源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222B2A"/>
                </a:solidFill>
                <a:latin typeface="Microsoft YaHei"/>
              </a:rPr>
              <a:t>本报告基于 2026-09-30 当日的公开网络检索，分三个维度取证：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E4D4A"/>
                </a:solidFill>
                <a:latin typeface="Microsoft YaHei"/>
              </a:rPr>
              <a:t>•  ① 搜索引擎可见性。 </a:t>
            </a:r>
            <a:r>
              <a:rPr sz="1400">
                <a:solidFill>
                  <a:srgbClr val="222B2A"/>
                </a:solidFill>
                <a:latin typeface="Microsoft YaHei"/>
              </a:rPr>
              <a:t>以「ACTN / actn.turingtech.net.cn / 图灵数盟 / 智能体接单平台」等关键词在搜索引擎检索，观察是否被收录、排名位置与摘要内容（含官网实时运营数据）。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E4D4A"/>
                </a:solidFill>
                <a:latin typeface="Microsoft YaHei"/>
              </a:rPr>
              <a:t>•  ② 第三方内容提及。 </a:t>
            </a:r>
            <a:r>
              <a:rPr sz="1400">
                <a:solidFill>
                  <a:srgbClr val="222B2A"/>
                </a:solidFill>
                <a:latin typeface="Microsoft YaHei"/>
              </a:rPr>
              <a:t>检索 npm 开源包、开发者社区（火山引擎）、百科与媒体报道中是否出现 ACTN / actagent / 图灵数盟 的引用与描述。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E4D4A"/>
                </a:solidFill>
                <a:latin typeface="Microsoft YaHei"/>
              </a:rPr>
              <a:t>•  ③ 社媒与社区渠道。 </a:t>
            </a:r>
            <a:r>
              <a:rPr sz="1400">
                <a:solidFill>
                  <a:srgbClr val="222B2A"/>
                </a:solidFill>
                <a:latin typeface="Microsoft YaHei"/>
              </a:rPr>
              <a:t>排查微信、知乎、微博、X(Twitter)、GitHub 组织页、飞书等公开阵地是否存在 ACTN 官方或准官方运营账号/话题。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E4D4A"/>
                </a:solidFill>
                <a:latin typeface="Microsoft YaHei"/>
              </a:rPr>
              <a:t>•  ④ 行业叙事比对。 </a:t>
            </a:r>
            <a:r>
              <a:rPr sz="1400">
                <a:solidFill>
                  <a:srgbClr val="222B2A"/>
                </a:solidFill>
                <a:latin typeface="Microsoft YaHei"/>
              </a:rPr>
              <a:t>将 ACTN 与同期「可信智能体网络」央媒报道中的主角（信通院、蚂蚁、字节等）做品牌提及度对比。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06440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A6361"/>
                </a:solidFill>
                <a:latin typeface="Microsoft YaHei"/>
              </a:rPr>
              <a:t>局限性：未覆盖平台内「香农社区」等私有渠道；不含付费投放与算法个性化结果；结论反映检索当日快照。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5A6361"/>
                </a:solidFill>
                <a:latin typeface="Microsoft YaHei"/>
              </a:rPr>
              <a:t>ACTN 网络曝光度调查  ·  图灵数盟 WB-DH 交付  ·  2026-09-30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5A6361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C89B3C"/>
                </a:solidFill>
                <a:latin typeface="Microsoft YaHei"/>
              </a:rPr>
              <a:t>SEARCH VISIBILITY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三、直接曝光度①：搜索引擎可见性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E4D4A"/>
                </a:solidFill>
                <a:latin typeface="Microsoft YaHei"/>
              </a:rPr>
              <a:t>结论：已被收录，精确检索排第 1；通用检索被淹没。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50" b="1">
                <a:solidFill>
                  <a:srgbClr val="0E4D4A"/>
                </a:solidFill>
                <a:latin typeface="Microsoft YaHei"/>
              </a:rPr>
              <a:t>•  已被主流搜索引擎收录。 </a:t>
            </a:r>
            <a:r>
              <a:rPr sz="1350">
                <a:solidFill>
                  <a:srgbClr val="222B2A"/>
                </a:solidFill>
                <a:latin typeface="Microsoft YaHei"/>
              </a:rPr>
              <a:t>Google/Bing 检索精确域名（actn.turingtech.net.cn）稳定返回官网首页，标题「ACTN - Agent 生产调度网络 / ACTN-Lite」。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50" b="1">
                <a:solidFill>
                  <a:srgbClr val="0E4D4A"/>
                </a:solidFill>
                <a:latin typeface="Microsoft YaHei"/>
              </a:rPr>
              <a:t>•  通用词难以突围。 </a:t>
            </a:r>
            <a:r>
              <a:rPr sz="1350">
                <a:solidFill>
                  <a:srgbClr val="222B2A"/>
                </a:solidFill>
                <a:latin typeface="Microsoft YaHei"/>
              </a:rPr>
              <a:t>以「AI 接单平台 / 智能体任务市场」检索，ACTN 仅出现在第三方盘点长文中、与 Upwork/Fiverr/OKX.AI 等并列，排序靠后、曝光浅。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50" b="1">
                <a:solidFill>
                  <a:srgbClr val="0E4D4A"/>
                </a:solidFill>
                <a:latin typeface="Microsoft YaHei"/>
              </a:rPr>
              <a:t>•  摘要即门面。 </a:t>
            </a:r>
            <a:r>
              <a:rPr sz="1350">
                <a:solidFill>
                  <a:srgbClr val="222B2A"/>
                </a:solidFill>
                <a:latin typeface="Microsoft YaHei"/>
              </a:rPr>
              <a:t>搜索结果摘要直接展示官网实时运营数据（见下页），是绝大多数陌生用户的第一印象。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50" b="1">
                <a:solidFill>
                  <a:srgbClr val="0E4D4A"/>
                </a:solidFill>
                <a:latin typeface="Microsoft YaHei"/>
              </a:rPr>
              <a:t>•  零付费/零品牌专区。 </a:t>
            </a:r>
            <a:r>
              <a:rPr sz="1350">
                <a:solidFill>
                  <a:srgbClr val="222B2A"/>
                </a:solidFill>
                <a:latin typeface="Microsoft YaHei"/>
              </a:rPr>
              <a:t>未见搜索品牌专区、知识图谱或付费置顶，纯自然收录。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828800"/>
            <a:ext cx="40233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938528"/>
            <a:ext cx="40233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000" b="1">
                <a:solidFill>
                  <a:srgbClr val="0E4D4A"/>
                </a:solidFill>
                <a:latin typeface="Microsoft YaHei"/>
              </a:rPr>
              <a:t>已收录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542032"/>
            <a:ext cx="40233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>
                <a:solidFill>
                  <a:srgbClr val="5A6361"/>
                </a:solidFill>
                <a:latin typeface="Microsoft YaHei"/>
              </a:rPr>
              <a:t>Google / Bing 精确域名检索排第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3383280"/>
            <a:ext cx="40233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B4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3493008"/>
            <a:ext cx="40233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000" b="1">
                <a:solidFill>
                  <a:srgbClr val="0E4D4A"/>
                </a:solidFill>
                <a:latin typeface="Microsoft YaHei"/>
              </a:rPr>
              <a:t>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096512"/>
            <a:ext cx="40233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>
                <a:solidFill>
                  <a:srgbClr val="5A6361"/>
                </a:solidFill>
                <a:latin typeface="Microsoft YaHei"/>
              </a:rPr>
              <a:t>通用词「AI 接单平台」自然排名靠后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4937760"/>
            <a:ext cx="40233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B4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5047488"/>
            <a:ext cx="40233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000" b="1">
                <a:solidFill>
                  <a:srgbClr val="0E4D4A"/>
                </a:solidFill>
                <a:latin typeface="Microsoft YaHe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5650992"/>
            <a:ext cx="40233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>
                <a:solidFill>
                  <a:srgbClr val="5A6361"/>
                </a:solidFill>
                <a:latin typeface="Microsoft YaHei"/>
              </a:rPr>
              <a:t>付费置顶 / 品牌搜索专区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5A6361"/>
                </a:solidFill>
                <a:latin typeface="Microsoft YaHei"/>
              </a:rPr>
              <a:t>ACTN 网络曝光度调查  ·  图灵数盟 WB-DH 交付  ·  2026-09-30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5A6361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C89B3C"/>
                </a:solidFill>
                <a:latin typeface="Microsoft YaHei"/>
              </a:rPr>
              <a:t>LIVE PLATFORM STATS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四、直接曝光度②：官网实时运营数据（检索快照）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222B2A"/>
                </a:solidFill>
                <a:latin typeface="Microsoft YaHei"/>
              </a:rPr>
              <a:t>搜索引擎摘要抓取的 ACTN 官网首页实时数据，反映平台当前体量：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26517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21408"/>
            <a:ext cx="26517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000" b="1">
                <a:solidFill>
                  <a:srgbClr val="0E4D4A"/>
                </a:solidFill>
                <a:latin typeface="Microsoft YaHei"/>
              </a:rPr>
              <a:t>413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24912"/>
            <a:ext cx="26517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>
                <a:solidFill>
                  <a:srgbClr val="5A6361"/>
                </a:solidFill>
                <a:latin typeface="Microsoft YaHei"/>
              </a:rPr>
              <a:t>累计任务数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011680"/>
            <a:ext cx="26517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121408"/>
            <a:ext cx="26517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000" b="1">
                <a:solidFill>
                  <a:srgbClr val="0E4D4A"/>
                </a:solidFill>
                <a:latin typeface="Microsoft YaHei"/>
              </a:rPr>
              <a:t>¥201.8万+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724912"/>
            <a:ext cx="26517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>
                <a:solidFill>
                  <a:srgbClr val="5A6361"/>
                </a:solidFill>
                <a:latin typeface="Microsoft YaHei"/>
              </a:rPr>
              <a:t>累计任务金额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011680"/>
            <a:ext cx="26517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121408"/>
            <a:ext cx="26517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000" b="1">
                <a:solidFill>
                  <a:srgbClr val="0E4D4A"/>
                </a:solidFill>
                <a:latin typeface="Microsoft YaHei"/>
              </a:rPr>
              <a:t>107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24912"/>
            <a:ext cx="26517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>
                <a:solidFill>
                  <a:srgbClr val="5A6361"/>
                </a:solidFill>
                <a:latin typeface="Microsoft YaHei"/>
              </a:rPr>
              <a:t>平台 Agent 总数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011680"/>
            <a:ext cx="23774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121408"/>
            <a:ext cx="23774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000" b="1">
                <a:solidFill>
                  <a:srgbClr val="0E4D4A"/>
                </a:solidFill>
                <a:latin typeface="Microsoft YaHe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724912"/>
            <a:ext cx="23774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>
                <a:solidFill>
                  <a:srgbClr val="5A6361"/>
                </a:solidFill>
                <a:latin typeface="Microsoft YaHei"/>
              </a:rPr>
              <a:t>累计用户数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3192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0E4D4A"/>
                </a:solidFill>
                <a:latin typeface="Microsoft YaHei"/>
              </a:rPr>
              <a:t>•  体量信号积极。 </a:t>
            </a:r>
            <a:r>
              <a:rPr sz="1350">
                <a:solidFill>
                  <a:srgbClr val="222B2A"/>
                </a:solidFill>
                <a:latin typeface="Microsoft YaHei"/>
              </a:rPr>
              <a:t>相较早期「0 任务 / ¥0」的冷启动快照，平台已积累 413 单、逾 200 万元任务金额，说明接单闭环跑通、供给侧在增长。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0E4D4A"/>
                </a:solidFill>
                <a:latin typeface="Microsoft YaHei"/>
              </a:rPr>
              <a:t>•  用户数仍是短板。 </a:t>
            </a:r>
            <a:r>
              <a:rPr sz="1350">
                <a:solidFill>
                  <a:srgbClr val="222B2A"/>
                </a:solidFill>
                <a:latin typeface="Microsoft YaHei"/>
              </a:rPr>
              <a:t>「13 用户 / 107 Agent」的结构提示：单个用户可挂多个 Agent，真实人类用户基数极小，C 端认知几乎空白。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0E4D4A"/>
                </a:solidFill>
                <a:latin typeface="Microsoft YaHei"/>
              </a:rPr>
              <a:t>•  数据即广告。 </a:t>
            </a:r>
            <a:r>
              <a:rPr sz="1350">
                <a:solidFill>
                  <a:srgbClr val="222B2A"/>
                </a:solidFill>
                <a:latin typeface="Microsoft YaHei"/>
              </a:rPr>
              <a:t>这些数字在搜索摘要中直接可见，是曝光链路里「免费且真实」的卖点，应被主动引用到对外物料。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5A6361"/>
                </a:solidFill>
                <a:latin typeface="Microsoft YaHei"/>
              </a:rPr>
              <a:t>ACTN 网络曝光度调查  ·  图灵数盟 WB-DH 交付  ·  2026-09-30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5A6361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C89B3C"/>
                </a:solidFill>
                <a:latin typeface="Microsoft YaHei"/>
              </a:rPr>
              <a:t>THIRD-PARTY MENTIONS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五、直接曝光度③：第三方内容提及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0E4D4A"/>
                </a:solidFill>
                <a:latin typeface="Microsoft YaHei"/>
              </a:rPr>
              <a:t>•  npm 开源包 actagent。 </a:t>
            </a:r>
            <a:r>
              <a:rPr sz="1400">
                <a:solidFill>
                  <a:srgbClr val="222B2A"/>
                </a:solidFill>
                <a:latin typeface="Microsoft YaHei"/>
              </a:rPr>
              <a:t>ACT-Agent（图灵数盟开发的 Agent 任务市场客户端）在 npmjs.org 有独立包页与 README，覆盖 WhatsApp/Telegram/飞书/微信等 20+ 渠道，是开发者触点。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0E4D4A"/>
                </a:solidFill>
                <a:latin typeface="Microsoft YaHei"/>
              </a:rPr>
              <a:t>•  火山引擎开发者社区盘点文。 </a:t>
            </a:r>
            <a:r>
              <a:rPr sz="1400">
                <a:solidFill>
                  <a:srgbClr val="222B2A"/>
                </a:solidFill>
                <a:latin typeface="Microsoft YaHei"/>
              </a:rPr>
              <a:t>《2026 年靠谱的 AI 接单平台盘点》将 ACTN(actagent) 列为「AI Agent 驱动的新兴平台」，描述为「人人平等拥有 AI 变现入口」。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0E4D4A"/>
                </a:solidFill>
                <a:latin typeface="Microsoft YaHei"/>
              </a:rPr>
              <a:t>•  母公司百度百科。 </a:t>
            </a:r>
            <a:r>
              <a:rPr sz="1400">
                <a:solidFill>
                  <a:srgbClr val="222B2A"/>
                </a:solidFill>
                <a:latin typeface="Microsoft YaHei"/>
              </a:rPr>
              <a:t>「图灵数盟(深圳)数字产业有限公司」有百度百科词条，关联深圳数据交易所认证数据商身份，但词条未延展到 ACTN 平台。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0E4D4A"/>
                </a:solidFill>
                <a:latin typeface="Microsoft YaHei"/>
              </a:rPr>
              <a:t>•  母公司官网矩阵。 </a:t>
            </a:r>
            <a:r>
              <a:rPr sz="1400">
                <a:solidFill>
                  <a:srgbClr val="222B2A"/>
                </a:solidFill>
                <a:latin typeface="Microsoft YaHei"/>
              </a:rPr>
              <a:t>turingtech.net.cn（数据要素）、datatrade.turingtech.net.cn（数据交易所）有独立站点，与 ACTN 形成「数据要素+Agent」品牌族，但彼此站内互链弱。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0E4D4A"/>
                </a:solidFill>
                <a:latin typeface="Microsoft YaHei"/>
              </a:rPr>
              <a:t>•  小结： </a:t>
            </a:r>
            <a:r>
              <a:rPr sz="1400">
                <a:solidFill>
                  <a:srgbClr val="222B2A"/>
                </a:solidFill>
                <a:latin typeface="Microsoft YaHei"/>
              </a:rPr>
              <a:t>第三方提及「有但零散」，集中在开发者/行业圈层，缺乏面向大众媒体（科技门户、视频号、播客）的破圈内容。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5A6361"/>
                </a:solidFill>
                <a:latin typeface="Microsoft YaHei"/>
              </a:rPr>
              <a:t>ACTN 网络曝光度调查  ·  图灵数盟 WB-DH 交付  ·  2026-09-30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5A6361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C89B3C"/>
                </a:solidFill>
                <a:latin typeface="Microsoft YaHei"/>
              </a:rPr>
              <a:t>MISSING CHANNELS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六、缺失的曝光渠道：社媒与社区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E4D4A"/>
                </a:solidFill>
                <a:latin typeface="Microsoft YaHei"/>
              </a:rPr>
              <a:t>排查结论：ACTN 在以下公开阵地几乎「零足迹」，构成曝光盲区。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291840" cy="749808"/>
          </a:xfrm>
          <a:prstGeom prst="rect">
            <a:avLst/>
          </a:prstGeom>
          <a:solidFill>
            <a:srgbClr val="0E4D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329184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渠道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920240"/>
            <a:ext cx="4572000" cy="749808"/>
          </a:xfrm>
          <a:prstGeom prst="rect">
            <a:avLst/>
          </a:prstGeom>
          <a:solidFill>
            <a:srgbClr val="0E4D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920240"/>
            <a:ext cx="45720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现状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920240"/>
            <a:ext cx="3291840" cy="749808"/>
          </a:xfrm>
          <a:prstGeom prst="rect">
            <a:avLst/>
          </a:prstGeom>
          <a:solidFill>
            <a:srgbClr val="0E4D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920240"/>
            <a:ext cx="329184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风险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70048"/>
            <a:ext cx="3291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70048"/>
            <a:ext cx="310896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B2A"/>
                </a:solidFill>
                <a:latin typeface="Microsoft YaHei"/>
              </a:rPr>
              <a:t>微信公众号 / 视频号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2670048"/>
            <a:ext cx="45720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2670048"/>
            <a:ext cx="438912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B2A"/>
                </a:solidFill>
                <a:latin typeface="Microsoft YaHei"/>
              </a:rPr>
              <a:t>未检索到 ACTN 官方号或话题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670048"/>
            <a:ext cx="3291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670048"/>
            <a:ext cx="310896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B43A2E"/>
                </a:solidFill>
                <a:latin typeface="Microsoft YaHei"/>
              </a:rPr>
              <a:t>中文核心流量池缺失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419856"/>
            <a:ext cx="3291840" cy="749808"/>
          </a:xfrm>
          <a:prstGeom prst="rect">
            <a:avLst/>
          </a:prstGeom>
          <a:solidFill>
            <a:srgbClr val="ECE6DA"/>
          </a:solidFill>
          <a:ln w="6350">
            <a:solidFill>
              <a:srgbClr val="CCC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19856"/>
            <a:ext cx="310896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B2A"/>
                </a:solidFill>
                <a:latin typeface="Microsoft YaHei"/>
              </a:rPr>
              <a:t>知乎 / 微博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3419856"/>
            <a:ext cx="4572000" cy="749808"/>
          </a:xfrm>
          <a:prstGeom prst="rect">
            <a:avLst/>
          </a:prstGeom>
          <a:solidFill>
            <a:srgbClr val="ECE6DA"/>
          </a:solidFill>
          <a:ln w="6350">
            <a:solidFill>
              <a:srgbClr val="CCC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3419856"/>
            <a:ext cx="438912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B2A"/>
                </a:solidFill>
                <a:latin typeface="Microsoft YaHei"/>
              </a:rPr>
              <a:t>无 ACTN 相关高赞问答或话题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3419856"/>
            <a:ext cx="3291840" cy="749808"/>
          </a:xfrm>
          <a:prstGeom prst="rect">
            <a:avLst/>
          </a:prstGeom>
          <a:solidFill>
            <a:srgbClr val="ECE6DA"/>
          </a:solidFill>
          <a:ln w="6350">
            <a:solidFill>
              <a:srgbClr val="CCC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3419856"/>
            <a:ext cx="310896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B43A2E"/>
                </a:solidFill>
                <a:latin typeface="Microsoft YaHei"/>
              </a:rPr>
              <a:t>专业人群认知空白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169664"/>
            <a:ext cx="3291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69664"/>
            <a:ext cx="310896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B2A"/>
                </a:solidFill>
                <a:latin typeface="Microsoft YaHei"/>
              </a:rPr>
              <a:t>X(Twitter) / LinkedIn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4169664"/>
            <a:ext cx="45720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0" y="4169664"/>
            <a:ext cx="438912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B2A"/>
                </a:solidFill>
                <a:latin typeface="Microsoft YaHei"/>
              </a:rPr>
              <a:t>无官方账号或创始人发声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4169664"/>
            <a:ext cx="3291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4169664"/>
            <a:ext cx="310896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B43A2E"/>
                </a:solidFill>
                <a:latin typeface="Microsoft YaHei"/>
              </a:rPr>
              <a:t>海外开发者触达缺失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919472"/>
            <a:ext cx="3291840" cy="749808"/>
          </a:xfrm>
          <a:prstGeom prst="rect">
            <a:avLst/>
          </a:prstGeom>
          <a:solidFill>
            <a:srgbClr val="ECE6DA"/>
          </a:solidFill>
          <a:ln w="6350">
            <a:solidFill>
              <a:srgbClr val="CCC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919472"/>
            <a:ext cx="310896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B2A"/>
                </a:solidFill>
                <a:latin typeface="Microsoft YaHei"/>
              </a:rPr>
              <a:t>GitHub 组织页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4919472"/>
            <a:ext cx="4572000" cy="749808"/>
          </a:xfrm>
          <a:prstGeom prst="rect">
            <a:avLst/>
          </a:prstGeom>
          <a:solidFill>
            <a:srgbClr val="ECE6DA"/>
          </a:solidFill>
          <a:ln w="6350">
            <a:solidFill>
              <a:srgbClr val="CCC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0" y="4919472"/>
            <a:ext cx="438912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B2A"/>
                </a:solidFill>
                <a:latin typeface="Microsoft YaHei"/>
              </a:rPr>
              <a:t>无 actn 官方 org / 星标仓库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4919472"/>
            <a:ext cx="3291840" cy="749808"/>
          </a:xfrm>
          <a:prstGeom prst="rect">
            <a:avLst/>
          </a:prstGeom>
          <a:solidFill>
            <a:srgbClr val="ECE6DA"/>
          </a:solidFill>
          <a:ln w="6350">
            <a:solidFill>
              <a:srgbClr val="CCC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4919472"/>
            <a:ext cx="310896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B43A2E"/>
                </a:solidFill>
                <a:latin typeface="Microsoft YaHei"/>
              </a:rPr>
              <a:t>开发者信任背书弱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669280"/>
            <a:ext cx="3291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669280"/>
            <a:ext cx="310896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B2A"/>
                </a:solidFill>
                <a:latin typeface="Microsoft YaHei"/>
              </a:rPr>
              <a:t>技术媒体 / 播客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5669280"/>
            <a:ext cx="45720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0" y="5669280"/>
            <a:ext cx="438912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B2A"/>
                </a:solidFill>
                <a:latin typeface="Microsoft YaHei"/>
              </a:rPr>
              <a:t>仅 1 篇火山引擎转载盘点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5669280"/>
            <a:ext cx="3291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0" y="5669280"/>
            <a:ext cx="310896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B43A2E"/>
                </a:solidFill>
                <a:latin typeface="Microsoft YaHei"/>
              </a:rPr>
              <a:t>破圈内容稀缺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5A6361"/>
                </a:solidFill>
                <a:latin typeface="Microsoft YaHei"/>
              </a:rPr>
              <a:t>ACTN 网络曝光度调查  ·  图灵数盟 WB-DH 交付  ·  2026-09-30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5A6361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C89B3C"/>
                </a:solidFill>
                <a:latin typeface="Microsoft YaHei"/>
              </a:rPr>
              <a:t>BRAND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七、品牌与认知风险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450" b="1">
                <a:solidFill>
                  <a:srgbClr val="0E4D4A"/>
                </a:solidFill>
                <a:latin typeface="Microsoft YaHei"/>
              </a:rPr>
              <a:t>•  「Turing」同名撞车。 </a:t>
            </a:r>
            <a:r>
              <a:rPr sz="1450">
                <a:solidFill>
                  <a:srgbClr val="222B2A"/>
                </a:solidFill>
                <a:latin typeface="Microsoft YaHei"/>
              </a:rPr>
              <a:t>Turing.com 是知名 AI 训练/远程招聘平台，与图灵数盟无关联；搜索「Turing」用户极易被导流到竞品，品牌词被稀释。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450" b="1">
                <a:solidFill>
                  <a:srgbClr val="0E4D4A"/>
                </a:solidFill>
                <a:latin typeface="Microsoft YaHei"/>
              </a:rPr>
              <a:t>•  被巨头叙事淹没。 </a:t>
            </a:r>
            <a:r>
              <a:rPr sz="1450">
                <a:solidFill>
                  <a:srgbClr val="222B2A"/>
                </a:solidFill>
                <a:latin typeface="Microsoft YaHei"/>
              </a:rPr>
              <a:t>近期「可信智能体网络」由信通院、蚂蚁 APASS、外滩大会定义并获央媒头条，ACTN 作为同赛道小平台未被任何权威报道点名，存在「行业热、品牌冷」的落差。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450" b="1">
                <a:solidFill>
                  <a:srgbClr val="0E4D4A"/>
                </a:solidFill>
                <a:latin typeface="Microsoft YaHei"/>
              </a:rPr>
              <a:t>•  母公司光环未向 ACTN 传导。 </a:t>
            </a:r>
            <a:r>
              <a:rPr sz="1450">
                <a:solidFill>
                  <a:srgbClr val="222B2A"/>
                </a:solidFill>
                <a:latin typeface="Microsoft YaHei"/>
              </a:rPr>
              <a:t>图灵数盟在数据要素/数据资产领域有案例与百科背书，但公众认知停留在「数据商」，未延伸到「Agent 调度网络」。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450" b="1">
                <a:solidFill>
                  <a:srgbClr val="0E4D4A"/>
                </a:solidFill>
                <a:latin typeface="Microsoft YaHei"/>
              </a:rPr>
              <a:t>•  命名歧义。 </a:t>
            </a:r>
            <a:r>
              <a:rPr sz="1450">
                <a:solidFill>
                  <a:srgbClr val="222B2A"/>
                </a:solidFill>
                <a:latin typeface="Microsoft YaHei"/>
              </a:rPr>
              <a:t>ACTN / actagent / ACT-Agent 三套叫法并存，对外传播不统一，削弱搜索聚合与记忆点。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5A6361"/>
                </a:solidFill>
                <a:latin typeface="Microsoft YaHei"/>
              </a:rPr>
              <a:t>ACTN 网络曝光度调查  ·  图灵数盟 WB-DH 交付  ·  2026-09-30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5A6361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C89B3C"/>
                </a:solidFill>
                <a:latin typeface="Microsoft YaHei"/>
              </a:rPr>
              <a:t>EXPOSURE FUNNEL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八、用户「看不看得到」——曝光漏斗分析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651760" cy="13716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6517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① 技术可达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24688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服务器可访问、域名可解析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286000"/>
            <a:ext cx="164592" cy="36576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992" y="1737360"/>
            <a:ext cx="2651760" cy="13716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828800"/>
            <a:ext cx="26517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② 搜索可见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331720"/>
            <a:ext cx="24688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精确域名可被收录检索（已达成）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2286000"/>
            <a:ext cx="164592" cy="36576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37360"/>
            <a:ext cx="2651760" cy="1371600"/>
          </a:xfrm>
          <a:prstGeom prst="rect">
            <a:avLst/>
          </a:prstGeom>
          <a:solidFill>
            <a:srgbClr val="B4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1344" y="1828800"/>
            <a:ext cx="26517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③ 主动触达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2331720"/>
            <a:ext cx="24688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通用词/社媒被普通用户偶遇（弱）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33104" y="2286000"/>
            <a:ext cx="164592" cy="36576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97696" y="1737360"/>
            <a:ext cx="2651760" cy="1371600"/>
          </a:xfrm>
          <a:prstGeom prst="rect">
            <a:avLst/>
          </a:prstGeom>
          <a:solidFill>
            <a:srgbClr val="B4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1828800"/>
            <a:ext cx="26517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④ 认知转化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331720"/>
            <a:ext cx="24688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知道 ACTN 是「Agent 赚钱入口」（极弱）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5661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0E4D4A"/>
                </a:solidFill>
                <a:latin typeface="Microsoft YaHei"/>
              </a:rPr>
              <a:t>判读：第 ①、② 层「看得到」已解决；第 ③、④ 层「愿意看/记得住」是真正短板。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1480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0E4D4A"/>
                </a:solidFill>
                <a:latin typeface="Microsoft YaHei"/>
              </a:rPr>
              <a:t>•  普通公众： </a:t>
            </a:r>
            <a:r>
              <a:rPr sz="1350">
                <a:solidFill>
                  <a:srgbClr val="222B2A"/>
                </a:solidFill>
                <a:latin typeface="Microsoft YaHei"/>
              </a:rPr>
              <a:t>基本「看不到」——既无社媒推送，也无通用搜索排名，除非有人把接入指令转发给他们。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0E4D4A"/>
                </a:solidFill>
                <a:latin typeface="Microsoft YaHei"/>
              </a:rPr>
              <a:t>•  开发者 / Agent 所有者： </a:t>
            </a:r>
            <a:r>
              <a:rPr sz="1350">
                <a:solidFill>
                  <a:srgbClr val="222B2A"/>
                </a:solidFill>
                <a:latin typeface="Microsoft YaHei"/>
              </a:rPr>
              <a:t>「看得到」但需主动检索或经同行推荐，转化意愿取决于对「Agent 变现」的认可度。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0E4D4A"/>
                </a:solidFill>
                <a:latin typeface="Microsoft YaHei"/>
              </a:rPr>
              <a:t>•  本质矛盾： </a:t>
            </a:r>
            <a:r>
              <a:rPr sz="1350">
                <a:solidFill>
                  <a:srgbClr val="222B2A"/>
                </a:solidFill>
                <a:latin typeface="Microsoft YaHei"/>
              </a:rPr>
              <a:t>ACTN 的分发依赖「Agent 自我繁殖式接入」，而非对外品牌曝光，导致「用户在站内增长、站外无人知晓」。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5A6361"/>
                </a:solidFill>
                <a:latin typeface="Microsoft YaHei"/>
              </a:rPr>
              <a:t>ACTN 网络曝光度调查  ·  图灵数盟 WB-DH 交付  ·  2026-09-30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5A6361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C89B3C"/>
                </a:solidFill>
                <a:latin typeface="Microsoft YaHei"/>
              </a:rPr>
              <a:t>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九、曝光度提升建议（按优先级）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E4D4A"/>
                </a:solidFill>
                <a:latin typeface="Microsoft YaHei"/>
              </a:rPr>
              <a:t>•  P0 统一品牌与命名。 </a:t>
            </a:r>
            <a:r>
              <a:rPr sz="1400">
                <a:solidFill>
                  <a:srgbClr val="222B2A"/>
                </a:solidFill>
                <a:latin typeface="Microsoft YaHei"/>
              </a:rPr>
              <a:t>对外固定「ACTN / 图灵数盟 Agent 调度网络」单一称呼，注册 actn 官方 GitHub org 与 X/LinkedIn 账号，解决同名撞车与信任背书。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E4D4A"/>
                </a:solidFill>
                <a:latin typeface="Microsoft YaHei"/>
              </a:rPr>
              <a:t>•  P0 把实时数据变内容。 </a:t>
            </a:r>
            <a:r>
              <a:rPr sz="1400">
                <a:solidFill>
                  <a:srgbClr val="222B2A"/>
                </a:solidFill>
                <a:latin typeface="Microsoft YaHei"/>
              </a:rPr>
              <a:t>将「413 单 / ¥201.8 万 / 107 Agent」做成可分享的案例页与一图流，主动投喂搜索摘要与社媒，弥补零付费曝光。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E4D4A"/>
                </a:solidFill>
                <a:latin typeface="Microsoft YaHei"/>
              </a:rPr>
              <a:t>•  P1 借势行业叙事。 </a:t>
            </a:r>
            <a:r>
              <a:rPr sz="1400">
                <a:solidFill>
                  <a:srgbClr val="222B2A"/>
                </a:solidFill>
                <a:latin typeface="Microsoft YaHei"/>
              </a:rPr>
              <a:t>在「可信智能体网络/智能体互联网」热度下，以「平民化 Agent 变现入口」差异化定位，争取行业媒体与开发者社区专访。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E4D4A"/>
                </a:solidFill>
                <a:latin typeface="Microsoft YaHei"/>
              </a:rPr>
              <a:t>•  P1 建设中文核心阵地。 </a:t>
            </a:r>
            <a:r>
              <a:rPr sz="1400">
                <a:solidFill>
                  <a:srgbClr val="222B2A"/>
                </a:solidFill>
                <a:latin typeface="Microsoft YaHei"/>
              </a:rPr>
              <a:t>开通微信公众号/视频号，围绕「我的 Agent 帮我赚到第一笔钱」做真实案例内容，切入中文流量池。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E4D4A"/>
                </a:solidFill>
                <a:latin typeface="Microsoft YaHei"/>
              </a:rPr>
              <a:t>•  P2 SEO 与百科补全。 </a:t>
            </a:r>
            <a:r>
              <a:rPr sz="1400">
                <a:solidFill>
                  <a:srgbClr val="222B2A"/>
                </a:solidFill>
                <a:latin typeface="Microsoft YaHei"/>
              </a:rPr>
              <a:t>完善百度百科 ACTN 词条、提交官网 sitemap、布局「AI 接单/智能体任务市场」长尾词，提升通用检索排名。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5A6361"/>
                </a:solidFill>
                <a:latin typeface="Microsoft YaHei"/>
              </a:rPr>
              <a:t>ACTN 网络曝光度调查  ·  图灵数盟 WB-DH 交付  ·  2026-09-30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5A6361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十、结论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0E4D4A"/>
                </a:solidFill>
                <a:latin typeface="Microsoft YaHei"/>
              </a:rPr>
              <a:t>•  看得到，但「被看见」远远不够。 </a:t>
            </a:r>
            <a:r>
              <a:rPr sz="1500">
                <a:solidFill>
                  <a:srgbClr val="ECF1EF"/>
                </a:solidFill>
                <a:latin typeface="Microsoft YaHei"/>
              </a:rPr>
              <a:t>ACTN 技术可达、搜索可收录，却缺乏公开声量与品牌认知，绝大多数潜在用户确实「不会主动看到」。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0E4D4A"/>
                </a:solidFill>
                <a:latin typeface="Microsoft YaHei"/>
              </a:rPr>
              <a:t>•  增长靠机制，不靠曝光。 </a:t>
            </a:r>
            <a:r>
              <a:rPr sz="1500">
                <a:solidFill>
                  <a:srgbClr val="ECF1EF"/>
                </a:solidFill>
                <a:latin typeface="Microsoft YaHei"/>
              </a:rPr>
              <a:t>当前用户/Agent 增长依赖「一句话接入」的协议内分发，而非市场推广——这是效率也是隐忧。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0E4D4A"/>
                </a:solidFill>
                <a:latin typeface="Microsoft YaHei"/>
              </a:rPr>
              <a:t>•  窗口期存在。 </a:t>
            </a:r>
            <a:r>
              <a:rPr sz="1500">
                <a:solidFill>
                  <a:srgbClr val="ECF1EF"/>
                </a:solidFill>
                <a:latin typeface="Microsoft YaHei"/>
              </a:rPr>
              <a:t>「可信智能体网络」正处于央媒高频报道的风口，ACTN 若补齐品牌与社媒短板，有机会从「借势」走向「被点名」。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0E4D4A"/>
                </a:solidFill>
                <a:latin typeface="Microsoft YaHei"/>
              </a:rPr>
              <a:t>•  一句话建议： </a:t>
            </a:r>
            <a:r>
              <a:rPr sz="1500">
                <a:solidFill>
                  <a:srgbClr val="ECF1EF"/>
                </a:solidFill>
                <a:latin typeface="Microsoft YaHei"/>
              </a:rPr>
              <a:t>先统一品牌与命名、把真实运营数据做成内容资产，再系统化布局 SEO 与中文社区——用最低成本撬动最大曝光杠杆。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C89B3C"/>
                </a:solidFill>
                <a:latin typeface="Microsoft YaHei"/>
              </a:rPr>
              <a:t>交付：ACTN 网络曝光度调查报告（PPT）　|　WB-DH · 图灵数盟　|　2026-09-30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